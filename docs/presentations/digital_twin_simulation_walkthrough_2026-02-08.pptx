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Home Energy Digital Twi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Home Energy Digital Twin</a:t>
            </a:r>
          </a:p>
        </p:txBody>
      </p:sp>
      <p:sp>
        <p:nvSpPr>
          <p:cNvPr id="173" name="Professional walkthrough: model, results, UX, and operational flow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808990">
              <a:defRPr sz="5390"/>
            </a:pPr>
            <a:r>
              <a:t>Professional walkthrough: model, results, UX, and operational flow</a:t>
            </a:r>
          </a:p>
          <a:p>
            <a:pPr defTabSz="808990">
              <a:defRPr sz="5390"/>
            </a:pPr>
            <a:r>
              <a:t>Date: 2026-02-08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resentation scop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scope</a:t>
            </a:r>
          </a:p>
        </p:txBody>
      </p:sp>
      <p:sp>
        <p:nvSpPr>
          <p:cNvPr id="17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1. Digital twin from first principl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1. Digital twin from first principles</a:t>
            </a:r>
          </a:p>
          <a:p>
            <a:pPr/>
            <a:r>
              <a:t>2. Data architecture and offline-first runtime</a:t>
            </a:r>
          </a:p>
          <a:p>
            <a:pPr/>
            <a:r>
              <a:t>3. Controller logic and physical constraints</a:t>
            </a:r>
          </a:p>
          <a:p>
            <a:pPr/>
            <a:r>
              <a:t>4. Detailed results and graph diagnostics</a:t>
            </a:r>
          </a:p>
          <a:p>
            <a:pPr/>
            <a:r>
              <a:t>5. Tesla-style energy and money flow visuals</a:t>
            </a:r>
          </a:p>
          <a:p>
            <a:pPr/>
            <a:r>
              <a:t>6. Deployment and upgrade path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irst principles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 principles model</a:t>
            </a:r>
          </a:p>
        </p:txBody>
      </p:sp>
      <p:sp>
        <p:nvSpPr>
          <p:cNvPr id="18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Per 5-minute interval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3696"/>
            </a:pPr>
            <a:r>
              <a:t>Per 5-minute interval: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Baseline cost = load x price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Scenario cost = import x price - export x price + degradation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Savings = baseline - scenario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Physical layers: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PV output from irradiance and temperature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Battery SoC dynamics with power and reserve constraints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Dispatch controller selects charge/discharge/export actions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ssumptions us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Assumptions used</a:t>
            </a:r>
          </a:p>
        </p:txBody>
      </p:sp>
      <p:sp>
        <p:nvSpPr>
          <p:cNvPr id="18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PV assumption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3696"/>
            </a:pPr>
            <a:r>
              <a:t>PV assumptions: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- 10 kW nameplate, PR 0.82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Temp coefficient -0.004 / degC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Battery assumptions: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- 10 kWh capacity, 1 kWh reserve, initial 5 kWh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- 5 kW charge/discharge/export limits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- 90% round-trip efficiency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- Degradation term 0.02 AUD/kWh discharged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Data and runtime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and runtime architecture</a:t>
            </a:r>
          </a:p>
        </p:txBody>
      </p:sp>
      <p:sp>
        <p:nvSpPr>
          <p:cNvPr id="18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Input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7472" indent="-347472" defTabSz="1389853">
              <a:spcBef>
                <a:spcPts val="2500"/>
              </a:spcBef>
              <a:defRPr sz="2736"/>
            </a:pPr>
            <a:r>
              <a:t>Inputs: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Amber usage/prices (SQLite cache + Supabase history)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Open-Meteo irradiance near Vaucluse NSW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Execution: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backtest mode and 5-minute live mode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writes simulation_intervals + simulation_runs to SQLite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Dashboard APIs: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/api/simulation/status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/api/simulation/intervals</a:t>
            </a:r>
          </a:p>
          <a:p>
            <a:pPr marL="347472" indent="-347472" defTabSz="1389853">
              <a:spcBef>
                <a:spcPts val="2500"/>
              </a:spcBef>
              <a:defRPr sz="2736"/>
            </a:pPr>
            <a:r>
              <a:t>- /api/simulation/flow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ntroller comparison summ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Controller comparison summary</a:t>
            </a:r>
          </a:p>
        </p:txBody>
      </p:sp>
      <p:sp>
        <p:nvSpPr>
          <p:cNvPr id="19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Latest cached run highlight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Latest cached run highlights:</a:t>
            </a:r>
          </a:p>
          <a:p>
            <a:pPr/>
            <a:r>
              <a:t>- Optimizer: today +0.0576 AUD, MTD +0.2538 AUD, next24h +0.0394 AUD</a:t>
            </a:r>
          </a:p>
          <a:p>
            <a:pPr/>
            <a:r>
              <a:t>- Rule: today +0.0000 AUD, MTD -0.1903 AUD, next24h +0.0030 AUD</a:t>
            </a:r>
          </a:p>
          <a:p>
            <a:pPr/>
          </a:p>
          <a:p>
            <a:pPr/>
            <a:r>
              <a:t>Interpretation:</a:t>
            </a:r>
          </a:p>
          <a:p>
            <a:pPr/>
            <a:r>
              <a:t>- Optimizer captures price spreads better in this window</a:t>
            </a:r>
          </a:p>
          <a:p>
            <a:pPr/>
            <a:r>
              <a:t>- Rule thresholds are easier to interpret but less adaptive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Daily savings by controll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Daily savings by controller</a:t>
            </a:r>
          </a:p>
        </p:txBody>
      </p:sp>
      <p:sp>
        <p:nvSpPr>
          <p:cNvPr id="19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Sydney-day aggregate view of interval savings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Sydney-day aggregate view of interval savings.</a:t>
            </a:r>
          </a:p>
        </p:txBody>
      </p:sp>
      <p:pic>
        <p:nvPicPr>
          <p:cNvPr id="198" name="chart_daily_savings.png" descr="chart_daily_saving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108200"/>
            <a:ext cx="14986000" cy="8563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mulative savings trajecto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Cumulative savings trajectory</a:t>
            </a:r>
          </a:p>
        </p:txBody>
      </p:sp>
      <p:sp>
        <p:nvSpPr>
          <p:cNvPr id="20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Running savings total over the backtest window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Running savings total over the backtest window.</a:t>
            </a:r>
          </a:p>
        </p:txBody>
      </p:sp>
      <p:pic>
        <p:nvPicPr>
          <p:cNvPr id="203" name="chart_cumulative_savings.png" descr="chart_cumulative_saving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108200"/>
            <a:ext cx="14986000" cy="8563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ost and savings breakdow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Cost and savings breakdown</a:t>
            </a:r>
          </a:p>
        </p:txBody>
      </p:sp>
      <p:sp>
        <p:nvSpPr>
          <p:cNvPr id="2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Baseline vs scenario cost and resulting net savings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Baseline vs scenario cost and resulting net savings.</a:t>
            </a:r>
          </a:p>
        </p:txBody>
      </p:sp>
      <p:pic>
        <p:nvPicPr>
          <p:cNvPr id="208" name="chart_money_breakdown.png" descr="chart_money_breakd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108200"/>
            <a:ext cx="14986000" cy="8563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Energy movement tota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Energy movement totals</a:t>
            </a:r>
          </a:p>
        </p:txBody>
      </p:sp>
      <p:sp>
        <p:nvSpPr>
          <p:cNvPr id="21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Import, charge, discharge, export and PV totals by controller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Import, charge, discharge, export and PV totals by controller.</a:t>
            </a:r>
          </a:p>
        </p:txBody>
      </p:sp>
      <p:pic>
        <p:nvPicPr>
          <p:cNvPr id="213" name="chart_energy_totals.png" descr="chart_energy_total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108200"/>
            <a:ext cx="14986000" cy="8563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Battery dynamics (optimizer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Battery dynamics (optimizer)</a:t>
            </a:r>
          </a:p>
        </p:txBody>
      </p:sp>
      <p:sp>
        <p:nvSpPr>
          <p:cNvPr id="21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State-of-charge and interval charge/discharge behavior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State-of-charge and interval charge/discharge behavior.</a:t>
            </a:r>
          </a:p>
        </p:txBody>
      </p:sp>
      <p:pic>
        <p:nvPicPr>
          <p:cNvPr id="218" name="chart_optimizer_soc_flows.png" descr="chart_optimizer_soc_flow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108200"/>
            <a:ext cx="14986000" cy="8563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Interval savings heatm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Interval savings heatmap</a:t>
            </a:r>
          </a:p>
        </p:txBody>
      </p:sp>
      <p:sp>
        <p:nvSpPr>
          <p:cNvPr id="22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Optimizer interval savings by Sydney 30-minute slot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Optimizer interval savings by Sydney 30-minute slot.</a:t>
            </a:r>
          </a:p>
        </p:txBody>
      </p:sp>
      <p:pic>
        <p:nvPicPr>
          <p:cNvPr id="223" name="chart_savings_heatmap.png" descr="chart_savings_heatma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108200"/>
            <a:ext cx="14986000" cy="85634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low mockup: midday solar surplu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Flow mockup: midday solar surplus</a:t>
            </a:r>
          </a:p>
        </p:txBody>
      </p:sp>
      <p:sp>
        <p:nvSpPr>
          <p:cNvPr id="22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Design objective from Tesla/Home Assistant reference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Design objective from Tesla/Home Assistant references:</a:t>
            </a:r>
          </a:p>
          <a:p>
            <a:pPr/>
            <a:r>
              <a:t>- separate connection ports to avoid ambiguous center crossings</a:t>
            </a:r>
          </a:p>
          <a:p>
            <a:pPr/>
            <a:r>
              <a:t>- directional energy arrows + dedicated money row</a:t>
            </a:r>
          </a:p>
        </p:txBody>
      </p:sp>
      <p:pic>
        <p:nvPicPr>
          <p:cNvPr id="228" name="mockup_flow_midday_solar.png" descr="mockup_flow_midday_sol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2200" y="1879600"/>
            <a:ext cx="15240000" cy="87085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Flow mockup: evening peak suppo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Flow mockup: evening peak support</a:t>
            </a:r>
          </a:p>
        </p:txBody>
      </p:sp>
      <p:sp>
        <p:nvSpPr>
          <p:cNvPr id="23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Battery-to-home path dominates while grid top-up is explicitly smaller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Battery-to-home path dominates while grid top-up is explicitly smaller.</a:t>
            </a:r>
          </a:p>
        </p:txBody>
      </p:sp>
      <p:pic>
        <p:nvPicPr>
          <p:cNvPr id="233" name="mockup_flow_evening_peak.png" descr="mockup_flow_evening_pea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2200" y="1879600"/>
            <a:ext cx="15240000" cy="87085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Flow mockup: overnight arbitrage charg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Flow mockup: overnight arbitrage charge</a:t>
            </a:r>
          </a:p>
        </p:txBody>
      </p:sp>
      <p:sp>
        <p:nvSpPr>
          <p:cNvPr id="23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Grid-to-battery charging path is isolated from grid-to-home path for clarity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Grid-to-battery charging path is isolated from grid-to-home path for clarity.</a:t>
            </a:r>
          </a:p>
        </p:txBody>
      </p:sp>
      <p:pic>
        <p:nvPicPr>
          <p:cNvPr id="238" name="mockup_flow_overnight_charge.png" descr="mockup_flow_overnight_char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2200" y="1879600"/>
            <a:ext cx="15240000" cy="87085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Dashboard UX changes deliver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Dashboard UX changes delivered</a:t>
            </a:r>
          </a:p>
        </p:txBody>
      </p:sp>
      <p:sp>
        <p:nvSpPr>
          <p:cNvPr id="24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Main dashboard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36447" indent="-536447" defTabSz="2145738">
              <a:spcBef>
                <a:spcPts val="3900"/>
              </a:spcBef>
              <a:defRPr sz="4224"/>
            </a:pPr>
            <a:r>
              <a:t>Main dashboard: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stronger hierarchy, premium card styling, clearer status chips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simulation status integrated in Data Status panel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Simulation dashboard: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Tesla-style live flow board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money flow cards (import/export/net/savings)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stale indicators and as_of surfaced in header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Operational behavi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Operational behavior</a:t>
            </a:r>
          </a:p>
        </p:txBody>
      </p:sp>
      <p:sp>
        <p:nvSpPr>
          <p:cNvPr id="24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Live simulation job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36447" indent="-536447" defTabSz="2145738">
              <a:spcBef>
                <a:spcPts val="3900"/>
              </a:spcBef>
              <a:defRPr sz="4224"/>
            </a:pPr>
            <a:r>
              <a:t>Live simulation job: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run_simulation_live.py every 5 minutes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cache-first writes to SQLite simulation tables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API behavior: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always includes as_of and stale flags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supports offline dashboard reads</a:t>
            </a:r>
          </a:p>
          <a:p>
            <a:pPr marL="536447" indent="-536447" defTabSz="2145738">
              <a:spcBef>
                <a:spcPts val="3900"/>
              </a:spcBef>
              <a:defRPr sz="4224"/>
            </a:pPr>
            <a:r>
              <a:t>- avoids blocking UI when upstream APIs are unavailable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ommended next upgra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Recommended next upgrades</a:t>
            </a:r>
          </a:p>
        </p:txBody>
      </p:sp>
      <p:sp>
        <p:nvSpPr>
          <p:cNvPr id="24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1. Deterministic weather fallback (clear-sky + cached blend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1. Deterministic weather fallback (clear-sky + cached blend)</a:t>
            </a:r>
          </a:p>
          <a:p>
            <a:pPr/>
            <a:r>
              <a:t>2. Optional LP/MILP optimization backend</a:t>
            </a:r>
          </a:p>
          <a:p>
            <a:pPr/>
            <a:r>
              <a:t>3. Network tariff and feed-in asymmetry modeling</a:t>
            </a:r>
          </a:p>
          <a:p>
            <a:pPr/>
            <a:r>
              <a:t>4. EV/V2H coupling scenarios</a:t>
            </a:r>
          </a:p>
          <a:p>
            <a:pPr/>
            <a:r>
              <a:t>5. Automated reconciliation report to validate savings confidence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producibility comman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Reproducibility commands</a:t>
            </a:r>
          </a:p>
        </p:txBody>
      </p:sp>
      <p:sp>
        <p:nvSpPr>
          <p:cNvPr id="25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4" name=".venv/bin/python scripts/run_scenario_simulation.py --mode backtest --controller optimizer --site-id 01J061Q7Q883JF26YMGZVVTMV9 --start 2025-12-28T00:00:00Z --end 2025-12-31T00:00:00Z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81584" indent="-481584" defTabSz="1926287">
              <a:spcBef>
                <a:spcPts val="3500"/>
              </a:spcBef>
              <a:defRPr sz="3792"/>
            </a:pPr>
            <a:r>
              <a:t>.venv/bin/python scripts/run_scenario_simulation.py --mode backtest --controller optimizer --site-id 01J061Q7Q883JF26YMGZVVTMV9 --start 2025-12-28T00:00:00Z --end 2025-12-31T00:00:00Z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t>.venv/bin/python scripts/run_scenario_simulation.py --mode backtest --controller rule --site-id 01J061Q7Q883JF26YMGZVVTMV9 --start 2025-12-28T00:00:00Z --end 2025-12-31T00:00:00Z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t>MPLBACKEND=Agg MPLCONFIGDIR=/tmp .venv/bin/python scripts/generate_simulation_presentation_pngs.py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t>.venv/bin/python scripts/generate_flow_mockup_pngs.py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t>.venv/bin/python scripts/export_simulation_pptx_with_keynote.py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